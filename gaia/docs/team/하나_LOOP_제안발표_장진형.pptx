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sources. Original concept framing and slide composition.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국무조정실 「2024 청년의 삶 실태조사」 PDF (turn4view1): 청년 가구 월평균 생활비 213만원, 평균 부채 1,637만원.
- 머니투데이 2026-03-07, 하나금융연구소 인용 기사 (turn2search0): 국내 리커머스 시장 2008년 4조원 → 2025년 43조원 전망.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하나금융연구소 Zinance 리포트 (turn17view2): MZ 금융의 직관적·개인화·생활형 특성.
- 환경부 보도자료 2024-08-18 (turn11view0): 2025년부터 수리부품 보유, 수리정보 제공 등 수리권 강화.
- EU Digital Product Passport 설명 페이지 (turn17view0) 및 Bain DPP article (turn17view1): 제품 이력/투명성/재판매 활성화 흐름.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뱅킹/자산관리 서비스의 부동산 자산관리 중심 기사 (turn13search22).
- 중고/가격 추정 서비스 예시: The Resale App (turn17view4), ResaleScan (turn17view5), Twig/TechCrunch (turn17view6).
- 하나 블로그 중고차/자동차 자산관리 관련 설명 (turn17view3): 금융권이 차량/고가 자산에는 접근하지만 일상 물건 영역은 제한적이라는 맥락.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quantitative claim. Original service architecture and user flow.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factual claim. Scenario numbers are illustrative to explain the proposed experience.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하나 파워온 신청 페이지 (turn18search1 / turn1view0): 프로그램 일정, 교육/현장 프로젝트 기간, 평가 기준.
- MVP scope and technical breakdown are original feasibility planning for a 1-person team.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자산관리/은행 서비스 관련 기사 (turn13search22) 및 하나 자동차 자산관리 맥락 (turn17view3).
- 리셀/가격도구 예시: The Resale App (turn17view4), ResaleScan (turn17view5), Twig (turn17view6).
- This slide synthesizes the observed focus areas into a comparison matrix; the matrix itself is an original analysis.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하나금융연구소 Zinance 리포트 (turn17view2): 생활형·개인화 금융에 대한 MZ 선호.
- Bain DPP article (turn17view1): 제품 이력/재판매/사후 서비스 데이터가 장기적인 제품 가치와 서비스 기회를 넓힌다는 점.
- The business-model synthesis is original analysis.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ITU / Global E-waste Monitor 관련 페이지 (turn9search20): 2022년 글로벌 e-waste 620억 kg, 공식 수거·재활용 22.3%.
- 환경부 보도자료 (turn11view0): 수리권 강화 및 순환경제 정책 맥락.
- Impact mapping is original analysis.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하나 파워온 신청 페이지 (turn18search1 / turn1view0): 평가 기준 실현가능성 30%, 사업성 30%, 참신성 30%, 자료완결성 10%.
- 대응 전략과 메시지는 original analysis.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1005840"/>
            <a:ext cx="128016" cy="749808"/>
          </a:xfrm>
          <a:prstGeom prst="rect">
            <a:avLst/>
          </a:prstGeom>
          <a:solidFill>
            <a:srgbClr val="0FA67A"/>
          </a:solidFill>
          <a:ln w="12700">
            <a:solidFill>
              <a:srgbClr val="0FA67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9264" y="896112"/>
            <a:ext cx="5303520" cy="530352"/>
          </a:xfrm>
          <a:prstGeom prst="rect">
            <a:avLst/>
          </a:prstGeom>
          <a:solidFill>
            <a:srgbClr val="0F2433">
              <a:alpha val="0"/>
            </a:srgbClr>
          </a:solidFill>
          <a:ln>
            <a:solidFill>
              <a:srgbClr val="0F243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LOOP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87552" y="1600200"/>
            <a:ext cx="5394960" cy="841248"/>
          </a:xfrm>
          <a:prstGeom prst="rect">
            <a:avLst/>
          </a:prstGeom>
          <a:solidFill>
            <a:srgbClr val="0F2433">
              <a:alpha val="0"/>
            </a:srgbClr>
          </a:solidFill>
          <a:ln>
            <a:solidFill>
              <a:srgbClr val="0F243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E9F3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소비를 비용으로 끝내지 않는</a:t>
            </a:r>
            <a:endParaRPr lang="en-US" sz="2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E9F3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순환자산 금융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87552" y="2542032"/>
            <a:ext cx="5669280" cy="256032"/>
          </a:xfrm>
          <a:prstGeom prst="rect">
            <a:avLst/>
          </a:prstGeom>
          <a:solidFill>
            <a:srgbClr val="0F2433">
              <a:alpha val="0"/>
            </a:srgbClr>
          </a:solidFill>
          <a:ln>
            <a:solidFill>
              <a:srgbClr val="0F243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1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Re:Value Lab  |  장진형  |  하나 청년 금융인재 양성 프로젝트 제안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092440" y="1417320"/>
            <a:ext cx="1371600" cy="0"/>
          </a:xfrm>
          <a:prstGeom prst="line">
            <a:avLst/>
          </a:prstGeom>
          <a:noFill/>
          <a:ln w="12700">
            <a:solidFill>
              <a:srgbClr val="0FA67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921240" y="1691640"/>
            <a:ext cx="0" cy="1051560"/>
          </a:xfrm>
          <a:prstGeom prst="line">
            <a:avLst/>
          </a:prstGeom>
          <a:noFill/>
          <a:ln w="12700">
            <a:solidFill>
              <a:srgbClr val="0FA67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464040" y="3063240"/>
            <a:ext cx="-1371600" cy="0"/>
          </a:xfrm>
          <a:prstGeom prst="line">
            <a:avLst/>
          </a:prstGeom>
          <a:noFill/>
          <a:ln w="12700">
            <a:solidFill>
              <a:srgbClr val="0FA67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635240" y="2743200"/>
            <a:ext cx="0" cy="-960120"/>
          </a:xfrm>
          <a:prstGeom prst="line">
            <a:avLst/>
          </a:prstGeom>
          <a:noFill/>
          <a:ln w="12700">
            <a:solidFill>
              <a:srgbClr val="0FA6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686800" y="3840480"/>
            <a:ext cx="0" cy="1005840"/>
          </a:xfrm>
          <a:prstGeom prst="line">
            <a:avLst/>
          </a:prstGeom>
          <a:noFill/>
          <a:ln w="12700">
            <a:solidFill>
              <a:srgbClr val="0FA67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686800" y="4846320"/>
            <a:ext cx="1280160" cy="0"/>
          </a:xfrm>
          <a:prstGeom prst="line">
            <a:avLst/>
          </a:prstGeom>
          <a:noFill/>
          <a:ln w="12700">
            <a:solidFill>
              <a:srgbClr val="0FA6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966960" y="4846320"/>
            <a:ext cx="0" cy="-1005840"/>
          </a:xfrm>
          <a:prstGeom prst="line">
            <a:avLst/>
          </a:prstGeom>
          <a:noFill/>
          <a:ln w="12700">
            <a:solidFill>
              <a:srgbClr val="0FA6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966960" y="3840480"/>
            <a:ext cx="-1280160" cy="0"/>
          </a:xfrm>
          <a:prstGeom prst="line">
            <a:avLst/>
          </a:prstGeom>
          <a:noFill/>
          <a:ln w="12700">
            <a:solidFill>
              <a:srgbClr val="0FA67A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452360" y="1188720"/>
            <a:ext cx="1005840" cy="475488"/>
          </a:xfrm>
          <a:prstGeom prst="rect">
            <a:avLst/>
          </a:prstGeom>
          <a:solidFill>
            <a:srgbClr val="1C3E55"/>
          </a:solidFill>
          <a:ln>
            <a:solidFill>
              <a:srgbClr val="0FA67A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0" y="1188720"/>
            <a:ext cx="1005840" cy="475488"/>
          </a:xfrm>
          <a:prstGeom prst="rect">
            <a:avLst/>
          </a:prstGeom>
          <a:solidFill>
            <a:srgbClr val="E6F7F2"/>
          </a:solidFill>
          <a:ln>
            <a:solidFill>
              <a:srgbClr val="0FA67A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0" y="2834640"/>
            <a:ext cx="1005840" cy="475488"/>
          </a:xfrm>
          <a:prstGeom prst="rect">
            <a:avLst/>
          </a:prstGeom>
          <a:solidFill>
            <a:srgbClr val="1C3E55"/>
          </a:solidFill>
          <a:ln>
            <a:solidFill>
              <a:srgbClr val="0FA67A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수리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52360" y="2834640"/>
            <a:ext cx="1005840" cy="475488"/>
          </a:xfrm>
          <a:prstGeom prst="rect">
            <a:avLst/>
          </a:prstGeom>
          <a:solidFill>
            <a:srgbClr val="E6F7F2"/>
          </a:solidFill>
          <a:ln>
            <a:solidFill>
              <a:srgbClr val="0FA67A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14816" y="4087368"/>
            <a:ext cx="1024128" cy="475488"/>
          </a:xfrm>
          <a:prstGeom prst="rect">
            <a:avLst/>
          </a:prstGeom>
          <a:solidFill>
            <a:srgbClr val="FFFFFF"/>
          </a:solidFill>
          <a:ln>
            <a:solidFill>
              <a:srgbClr val="0FA67A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8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저축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60920" y="5486400"/>
            <a:ext cx="3063240" cy="594360"/>
          </a:xfrm>
          <a:prstGeom prst="rect">
            <a:avLst/>
          </a:prstGeom>
          <a:solidFill>
            <a:srgbClr val="0F2433">
              <a:alpha val="0"/>
            </a:srgbClr>
          </a:solidFill>
          <a:ln>
            <a:solidFill>
              <a:srgbClr val="0F243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F3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지출 기록을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E9F3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순환자산 지갑으로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75720" y="6419088"/>
            <a:ext cx="256032" cy="164592"/>
          </a:xfrm>
          <a:prstGeom prst="rect">
            <a:avLst/>
          </a:prstGeom>
          <a:solidFill>
            <a:srgbClr val="0F2433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E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109728" cy="329184"/>
          </a:xfrm>
          <a:prstGeom prst="rect">
            <a:avLst/>
          </a:prstGeom>
          <a:solidFill>
            <a:srgbClr val="0FA67A"/>
          </a:solidFill>
          <a:ln w="12700">
            <a:solidFill>
              <a:srgbClr val="0FA67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29184"/>
            <a:ext cx="8138160" cy="402336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 필요한가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555480" y="356616"/>
            <a:ext cx="1783080" cy="256032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8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NOW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841248" y="868680"/>
            <a:ext cx="10561320" cy="0"/>
          </a:xfrm>
          <a:prstGeom prst="line">
            <a:avLst/>
          </a:prstGeom>
          <a:noFill/>
          <a:ln w="12700">
            <a:solidFill>
              <a:srgbClr val="C7D6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19088"/>
            <a:ext cx="256032" cy="164592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060704"/>
            <a:ext cx="7040880" cy="585216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청년의 지출 부담은 커졌고, 되팔 수 있는 물건의 가치는 커졌지만</a:t>
            </a:r>
            <a:endParaRPr lang="en-US" sz="18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8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금융은 아직 이를 자산으로 다루지 못하고 있습니다.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024128" y="1865376"/>
            <a:ext cx="2011680" cy="201168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리커머스 시장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51560" y="5166360"/>
            <a:ext cx="4160520" cy="0"/>
          </a:xfrm>
          <a:prstGeom prst="line">
            <a:avLst/>
          </a:prstGeom>
          <a:noFill/>
          <a:ln w="12700">
            <a:solidFill>
              <a:srgbClr val="C7D6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4443984"/>
            <a:ext cx="841248" cy="722376"/>
          </a:xfrm>
          <a:prstGeom prst="rect">
            <a:avLst/>
          </a:prstGeom>
          <a:solidFill>
            <a:srgbClr val="EEF4F5"/>
          </a:solidFill>
          <a:ln w="12700">
            <a:solidFill>
              <a:srgbClr val="C7D6D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78224" y="2048256"/>
            <a:ext cx="987552" cy="3118104"/>
          </a:xfrm>
          <a:prstGeom prst="rect">
            <a:avLst/>
          </a:prstGeom>
          <a:solidFill>
            <a:srgbClr val="0FA67A"/>
          </a:solidFill>
          <a:ln w="12700">
            <a:solidFill>
              <a:srgbClr val="0FA67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4343400"/>
            <a:ext cx="2724912" cy="-2459736"/>
          </a:xfrm>
          <a:prstGeom prst="line">
            <a:avLst/>
          </a:prstGeom>
          <a:noFill/>
          <a:ln w="12700">
            <a:solidFill>
              <a:srgbClr val="0FA67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389888" y="4041648"/>
            <a:ext cx="896112" cy="228600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05072" y="1700784"/>
            <a:ext cx="1115568" cy="274320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8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44168" y="5285232"/>
            <a:ext cx="987552" cy="201168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2008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822192" y="5285232"/>
            <a:ext cx="1481328" cy="201168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전망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87552" y="5614416"/>
            <a:ext cx="4572000" cy="502920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중고·재판매 시장 자체가 커지면서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생활용품의 잔존가치가 더 중요한 소비 기준이 되었습니다.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92240" y="1828800"/>
            <a:ext cx="2240280" cy="1225296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  <a:effectLst>
            <a:outerShdw sx="100000" sy="100000" kx="0" ky="0" algn="bl" rotWithShape="0" blurRad="19050" dist="6350" dir="2700000">
              <a:srgbClr val="000000">
                <a:alpha val="15000"/>
              </a:srgbClr>
            </a:outerShdw>
          </a:effectLst>
        </p:spPr>
        <p:txBody>
          <a:bodyPr wrap="square" lIns="76200" tIns="101600" rIns="101600" bIns="76200" rtlCol="0" anchor="ctr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83680" y="1938528"/>
            <a:ext cx="205740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8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213만원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629400" y="2487168"/>
            <a:ext cx="1965960" cy="320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청년 가구 월평균 생활비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107424" y="1828800"/>
            <a:ext cx="2240280" cy="1225296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  <a:effectLst>
            <a:outerShdw sx="100000" sy="100000" kx="0" ky="0" algn="bl" rotWithShape="0" blurRad="19050" dist="6350" dir="2700000">
              <a:srgbClr val="000000">
                <a:alpha val="15000"/>
              </a:srgbClr>
            </a:outerShdw>
          </a:effectLst>
        </p:spPr>
        <p:txBody>
          <a:bodyPr wrap="square" lIns="76200" tIns="101600" rIns="101600" bIns="76200" rtlCol="0" anchor="ctr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98864" y="1938528"/>
            <a:ext cx="205740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1,637만원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244584" y="2487168"/>
            <a:ext cx="1965960" cy="320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부채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92240" y="3703320"/>
            <a:ext cx="4855464" cy="1536192"/>
          </a:xfrm>
          <a:prstGeom prst="rect">
            <a:avLst/>
          </a:prstGeom>
          <a:solidFill>
            <a:srgbClr val="E6F7F2"/>
          </a:solidFill>
          <a:ln>
            <a:solidFill>
              <a:srgbClr val="0FA67A"/>
            </a:solidFill>
          </a:ln>
        </p:spPr>
        <p:txBody>
          <a:bodyPr wrap="square" lIns="127000" tIns="152400" rIns="152400" bIns="1270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금융은 여전히 구매 금액만 기록합니다.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후 남아 있는 물건의 잔존가치와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교체 타이밍은 거의 관리하지 않습니다.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109728" cy="329184"/>
          </a:xfrm>
          <a:prstGeom prst="rect">
            <a:avLst/>
          </a:prstGeom>
          <a:solidFill>
            <a:srgbClr val="0FA67A"/>
          </a:solidFill>
          <a:ln w="12700">
            <a:solidFill>
              <a:srgbClr val="0FA67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29184"/>
            <a:ext cx="8138160" cy="402336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시장조사에서 확인한 3가지 변화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555480" y="356616"/>
            <a:ext cx="1783080" cy="256032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8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RESEARCH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841248" y="868680"/>
            <a:ext cx="10561320" cy="0"/>
          </a:xfrm>
          <a:prstGeom prst="line">
            <a:avLst/>
          </a:prstGeom>
          <a:noFill/>
          <a:ln w="12700">
            <a:solidFill>
              <a:srgbClr val="C7D6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19088"/>
            <a:ext cx="256032" cy="164592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1554480"/>
            <a:ext cx="27432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  <p:txBody>
          <a:bodyPr wrap="square" lIns="76200" tIns="101600" rIns="101600" bIns="76200" rtlCol="0" anchor="ctr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9264" y="1737360"/>
            <a:ext cx="420624" cy="256032"/>
          </a:xfrm>
          <a:prstGeom prst="rect">
            <a:avLst/>
          </a:prstGeom>
          <a:solidFill>
            <a:srgbClr val="0FA67A"/>
          </a:solidFill>
          <a:ln>
            <a:solidFill>
              <a:srgbClr val="0FA67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9264" y="2130552"/>
            <a:ext cx="2395728" cy="3840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생활형 금융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9264" y="2761488"/>
            <a:ext cx="2395728" cy="23317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MZ 금융은 직관적·개인화·생활형 특성이 강해지고 있습니다. 즉, 돈 그 자체보다 “내 일상에 어떤 선택을 주는가”가 더 중요해졌습니다.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4059936" y="1554480"/>
            <a:ext cx="27432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  <p:txBody>
          <a:bodyPr wrap="square" lIns="76200" tIns="101600" rIns="101600" bIns="76200" rtlCol="0" anchor="ctr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224528" y="1737360"/>
            <a:ext cx="420624" cy="256032"/>
          </a:xfrm>
          <a:prstGeom prst="rect">
            <a:avLst/>
          </a:prstGeom>
          <a:solidFill>
            <a:srgbClr val="F3C46E"/>
          </a:solidFill>
          <a:ln>
            <a:solidFill>
              <a:srgbClr val="F3C46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24528" y="2130552"/>
            <a:ext cx="2395728" cy="3840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수리권·순환경제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224528" y="2761488"/>
            <a:ext cx="2395728" cy="23317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2025년부터 수리부품 보유, 수리 용이성, 수리 정보 제공이 강화됩니다. “고장 나면 버리는 소비”에서 “고쳐 쓰는 소비”로 제도 환경이 바뀌고 있습니다.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7315200" y="1554480"/>
            <a:ext cx="27432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  <p:txBody>
          <a:bodyPr wrap="square" lIns="76200" tIns="101600" rIns="101600" bIns="76200" rtlCol="0" anchor="ctr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479792" y="1737360"/>
            <a:ext cx="420624" cy="256032"/>
          </a:xfrm>
          <a:prstGeom prst="rect">
            <a:avLst/>
          </a:prstGeom>
          <a:solidFill>
            <a:srgbClr val="0FA67A"/>
          </a:solidFill>
          <a:ln>
            <a:solidFill>
              <a:srgbClr val="0FA67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79792" y="2130552"/>
            <a:ext cx="2395728" cy="3840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이력의 데이터화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479792" y="2761488"/>
            <a:ext cx="2395728" cy="23317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DPP(디지털 제품 여권)와 제품 이력 관리 흐름은 물건 자체를 추적 가능한 데이터 자산으로 바꿉니다. 이 데이터는 재판매·인증·서비스 추천의 핵심 기반이 됩니다.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804672" y="6144768"/>
            <a:ext cx="9235440" cy="384048"/>
          </a:xfrm>
          <a:prstGeom prst="rect">
            <a:avLst/>
          </a:prstGeom>
          <a:solidFill>
            <a:srgbClr val="0FA67A"/>
          </a:solidFill>
          <a:ln>
            <a:solidFill>
              <a:srgbClr val="0FA67A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은행이 먼저 “생활용품 잔존가치”를 금융 데이터로 만들 기회입니다.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109728" cy="329184"/>
          </a:xfrm>
          <a:prstGeom prst="rect">
            <a:avLst/>
          </a:prstGeom>
          <a:solidFill>
            <a:srgbClr val="0FA67A"/>
          </a:solidFill>
          <a:ln w="12700">
            <a:solidFill>
              <a:srgbClr val="0FA67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29184"/>
            <a:ext cx="8138160" cy="402336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서비스 지형: 은행과 거래 플랫폼 사이의 빈칸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555480" y="356616"/>
            <a:ext cx="1783080" cy="256032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8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WHITE SPACE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841248" y="868680"/>
            <a:ext cx="10561320" cy="0"/>
          </a:xfrm>
          <a:prstGeom prst="line">
            <a:avLst/>
          </a:prstGeom>
          <a:noFill/>
          <a:ln w="12700">
            <a:solidFill>
              <a:srgbClr val="C7D6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19088"/>
            <a:ext cx="256032" cy="164592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069848"/>
            <a:ext cx="10698480" cy="310896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서비스는 각각 “돈”, “가격”, “거래”를 다룹니다. 그러나 개인이 가진 물건의 잔존가치를 금융으로 연결하는 계층은 비어 있습니다.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3611880" y="3154680"/>
            <a:ext cx="612648" cy="0"/>
          </a:xfrm>
          <a:prstGeom prst="line">
            <a:avLst/>
          </a:prstGeom>
          <a:noFill/>
          <a:ln w="12700">
            <a:solidFill>
              <a:srgbClr val="C7D6D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973568" y="3154680"/>
            <a:ext cx="274320" cy="0"/>
          </a:xfrm>
          <a:prstGeom prst="line">
            <a:avLst/>
          </a:prstGeom>
          <a:noFill/>
          <a:ln w="12700">
            <a:solidFill>
              <a:srgbClr val="C7D6DA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22960" y="1920240"/>
            <a:ext cx="283464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  <a:effectLst>
            <a:outerShdw sx="100000" sy="100000" kx="0" ky="0" algn="bl" rotWithShape="0" blurRad="13970" dist="3810" dir="2700000">
              <a:srgbClr val="000000">
                <a:alpha val="8000"/>
              </a:srgbClr>
            </a:outerShdw>
          </a:effectLst>
        </p:spPr>
        <p:txBody>
          <a:bodyPr wrap="square" lIns="76200" tIns="101600" rIns="101600" bIns="76200" rtlCol="0" anchor="ctr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60704" y="2176272"/>
            <a:ext cx="2286000" cy="3017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 자산관리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60704" y="2743200"/>
            <a:ext cx="2240280" cy="10515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계좌·카드·투자</a:t>
            </a:r>
            <a:endParaRPr lang="en-US" sz="18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80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부동산·차량</a:t>
            </a:r>
            <a:endParaRPr lang="en-US" sz="18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80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현금흐름 중심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60704" y="3867912"/>
            <a:ext cx="868680" cy="256032"/>
          </a:xfrm>
          <a:prstGeom prst="rect">
            <a:avLst/>
          </a:prstGeom>
          <a:solidFill>
            <a:srgbClr val="EEF4F5"/>
          </a:solidFill>
          <a:ln>
            <a:solidFill>
              <a:srgbClr val="EEF4F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 중심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33672" y="1572768"/>
            <a:ext cx="3703320" cy="3200400"/>
          </a:xfrm>
          <a:prstGeom prst="rect">
            <a:avLst/>
          </a:prstGeom>
          <a:solidFill>
            <a:srgbClr val="E6F7F2"/>
          </a:solidFill>
          <a:ln>
            <a:solidFill>
              <a:srgbClr val="0FA67A"/>
            </a:solidFill>
          </a:ln>
          <a:effectLst>
            <a:outerShdw sx="100000" sy="100000" kx="0" ky="0" algn="bl" rotWithShape="0" blurRad="17780" dist="5080" dir="2700000">
              <a:srgbClr val="000000">
                <a:alpha val="12000"/>
              </a:srgbClr>
            </a:outerShdw>
          </a:effectLst>
        </p:spPr>
        <p:txBody>
          <a:bodyPr wrap="square" lIns="76200" tIns="101600" rIns="101600" bIns="76200" rtlCol="0" anchor="ctr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89704" y="1883664"/>
            <a:ext cx="3154680" cy="365760"/>
          </a:xfrm>
          <a:prstGeom prst="rect">
            <a:avLst/>
          </a:prstGeom>
          <a:solidFill>
            <a:srgbClr val="E6F7F2">
              <a:alpha val="0"/>
            </a:srgbClr>
          </a:solidFill>
          <a:ln>
            <a:solidFill>
              <a:srgbClr val="E6F7F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8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있는 영역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18304" y="2633472"/>
            <a:ext cx="2697480" cy="1325880"/>
          </a:xfrm>
          <a:prstGeom prst="rect">
            <a:avLst/>
          </a:prstGeom>
          <a:solidFill>
            <a:srgbClr val="E6F7F2">
              <a:alpha val="0"/>
            </a:srgbClr>
          </a:solidFill>
          <a:ln>
            <a:solidFill>
              <a:srgbClr val="E6F7F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물건의 잔존가치 추적</a:t>
            </a:r>
            <a:endParaRPr lang="en-US" sz="20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수리·판매·교체 추천</a:t>
            </a:r>
            <a:endParaRPr lang="en-US" sz="20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상품과의 연결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41848" y="4142232"/>
            <a:ext cx="896112" cy="256032"/>
          </a:xfrm>
          <a:prstGeom prst="rect">
            <a:avLst/>
          </a:prstGeom>
          <a:solidFill>
            <a:srgbClr val="0FA67A"/>
          </a:solidFill>
          <a:ln>
            <a:solidFill>
              <a:srgbClr val="0FA67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 중심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66176" y="1920240"/>
            <a:ext cx="283464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  <a:effectLst>
            <a:outerShdw sx="100000" sy="100000" kx="0" ky="0" algn="bl" rotWithShape="0" blurRad="13970" dist="3810" dir="2700000">
              <a:srgbClr val="000000">
                <a:alpha val="8000"/>
              </a:srgbClr>
            </a:outerShdw>
          </a:effectLst>
        </p:spPr>
        <p:txBody>
          <a:bodyPr wrap="square" lIns="76200" tIns="101600" rIns="101600" bIns="76200" rtlCol="0" anchor="ctr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85632" y="2176272"/>
            <a:ext cx="2395728" cy="3017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리셀/중고 플랫폼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485632" y="2743200"/>
            <a:ext cx="2267712" cy="10789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조회·상품 등록</a:t>
            </a:r>
            <a:endParaRPr lang="en-US" sz="18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80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성사·게시글 편의</a:t>
            </a:r>
            <a:endParaRPr lang="en-US" sz="18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80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판매자 도구 중심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85632" y="3867912"/>
            <a:ext cx="896112" cy="256032"/>
          </a:xfrm>
          <a:prstGeom prst="rect">
            <a:avLst/>
          </a:prstGeom>
          <a:solidFill>
            <a:srgbClr val="EEF4F5"/>
          </a:solidFill>
          <a:ln>
            <a:solidFill>
              <a:srgbClr val="EEF4F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중심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5047488"/>
            <a:ext cx="10268712" cy="932688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</p:spPr>
        <p:txBody>
          <a:bodyPr wrap="square" lIns="127000" tIns="177800" rIns="177800" bIns="1270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인사이트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은행은 money를, 플랫폼은 deal을 관리합니다.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LOOP는 thing as asset을 관리합니다.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109728" cy="329184"/>
          </a:xfrm>
          <a:prstGeom prst="rect">
            <a:avLst/>
          </a:prstGeom>
          <a:solidFill>
            <a:srgbClr val="0FA67A"/>
          </a:solidFill>
          <a:ln w="12700">
            <a:solidFill>
              <a:srgbClr val="0FA67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29184"/>
            <a:ext cx="8138160" cy="402336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제안: 하나 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555480" y="356616"/>
            <a:ext cx="1783080" cy="256032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8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CONCEPT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841248" y="868680"/>
            <a:ext cx="10561320" cy="0"/>
          </a:xfrm>
          <a:prstGeom prst="line">
            <a:avLst/>
          </a:prstGeom>
          <a:noFill/>
          <a:ln w="12700">
            <a:solidFill>
              <a:srgbClr val="C7D6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19088"/>
            <a:ext cx="256032" cy="164592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078992"/>
            <a:ext cx="8046720" cy="310896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카드결제·영수증·사진을 AI가 읽고, 물건의 현재 가치와 다음 행동을 계산합니다.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34640" y="2916936"/>
            <a:ext cx="182880" cy="0"/>
          </a:xfrm>
          <a:prstGeom prst="line">
            <a:avLst/>
          </a:prstGeom>
          <a:noFill/>
          <a:ln w="12700">
            <a:solidFill>
              <a:srgbClr val="0FA67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983480" y="2916936"/>
            <a:ext cx="182880" cy="0"/>
          </a:xfrm>
          <a:prstGeom prst="line">
            <a:avLst/>
          </a:prstGeom>
          <a:noFill/>
          <a:ln w="12700">
            <a:solidFill>
              <a:srgbClr val="0FA6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32320" y="2916936"/>
            <a:ext cx="182880" cy="0"/>
          </a:xfrm>
          <a:prstGeom prst="line">
            <a:avLst/>
          </a:prstGeom>
          <a:noFill/>
          <a:ln w="12700">
            <a:solidFill>
              <a:srgbClr val="0FA67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281160" y="2916936"/>
            <a:ext cx="182880" cy="0"/>
          </a:xfrm>
          <a:prstGeom prst="line">
            <a:avLst/>
          </a:prstGeom>
          <a:noFill/>
          <a:ln w="12700">
            <a:solidFill>
              <a:srgbClr val="0FA67A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68680" y="2423160"/>
            <a:ext cx="1965960" cy="987552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  <a:effectLst>
            <a:outerShdw sx="100000" sy="100000" kx="0" ky="0" algn="bl" rotWithShape="0" blurRad="12700" dist="3810" dir="2700000">
              <a:srgbClr val="000000">
                <a:alpha val="9000"/>
              </a:srgbClr>
            </a:outerShdw>
          </a:effectLst>
        </p:spPr>
        <p:txBody>
          <a:bodyPr wrap="square" lIns="76200" tIns="101600" rIns="101600" bIns="76200" rtlCol="0" anchor="ctr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96696" y="2532888"/>
            <a:ext cx="1709928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등록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78408" y="2807208"/>
            <a:ext cx="1746504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결제내역·영수증</a:t>
            </a:r>
            <a:endParaRPr lang="en-US" sz="12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사진으로 보유 물건 생성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3017520" y="2423160"/>
            <a:ext cx="1965960" cy="987552"/>
          </a:xfrm>
          <a:prstGeom prst="rect">
            <a:avLst/>
          </a:prstGeom>
          <a:solidFill>
            <a:srgbClr val="E6F7F2"/>
          </a:solidFill>
          <a:ln>
            <a:solidFill>
              <a:srgbClr val="0FA67A"/>
            </a:solidFill>
          </a:ln>
          <a:effectLst>
            <a:outerShdw sx="100000" sy="100000" kx="0" ky="0" algn="bl" rotWithShape="0" blurRad="12700" dist="3810" dir="2700000">
              <a:srgbClr val="000000">
                <a:alpha val="9000"/>
              </a:srgbClr>
            </a:outerShdw>
          </a:effectLst>
        </p:spPr>
        <p:txBody>
          <a:bodyPr wrap="square" lIns="76200" tIns="101600" rIns="101600" bIns="76200" rtlCol="0" anchor="ctr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145536" y="2532888"/>
            <a:ext cx="1709928" cy="201168"/>
          </a:xfrm>
          <a:prstGeom prst="rect">
            <a:avLst/>
          </a:prstGeom>
          <a:solidFill>
            <a:srgbClr val="E6F7F2">
              <a:alpha val="0"/>
            </a:srgbClr>
          </a:solidFill>
          <a:ln>
            <a:solidFill>
              <a:srgbClr val="E6F7F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8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가치평가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127248" y="2807208"/>
            <a:ext cx="1746504" cy="411480"/>
          </a:xfrm>
          <a:prstGeom prst="rect">
            <a:avLst/>
          </a:prstGeom>
          <a:solidFill>
            <a:srgbClr val="E6F7F2">
              <a:alpha val="0"/>
            </a:srgbClr>
          </a:solidFill>
          <a:ln>
            <a:solidFill>
              <a:srgbClr val="E6F7F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식별</a:t>
            </a:r>
            <a:endParaRPr lang="en-US" sz="12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시세·감가 추정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5166360" y="2423160"/>
            <a:ext cx="1965960" cy="987552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  <a:effectLst>
            <a:outerShdw sx="100000" sy="100000" kx="0" ky="0" algn="bl" rotWithShape="0" blurRad="12700" dist="3810" dir="2700000">
              <a:srgbClr val="000000">
                <a:alpha val="9000"/>
              </a:srgbClr>
            </a:outerShdw>
          </a:effectLst>
        </p:spPr>
        <p:txBody>
          <a:bodyPr wrap="square" lIns="76200" tIns="101600" rIns="101600" bIns="76200" rtlCol="0" anchor="ctr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94376" y="2532888"/>
            <a:ext cx="1709928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행동추천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276088" y="2807208"/>
            <a:ext cx="1746504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수리/보유/판매/중고구매</a:t>
            </a:r>
            <a:endParaRPr lang="en-US" sz="12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경제적인 선택 추천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7315200" y="2423160"/>
            <a:ext cx="1965960" cy="987552"/>
          </a:xfrm>
          <a:prstGeom prst="rect">
            <a:avLst/>
          </a:prstGeom>
          <a:solidFill>
            <a:srgbClr val="E6F7F2"/>
          </a:solidFill>
          <a:ln>
            <a:solidFill>
              <a:srgbClr val="0FA67A"/>
            </a:solidFill>
          </a:ln>
          <a:effectLst>
            <a:outerShdw sx="100000" sy="100000" kx="0" ky="0" algn="bl" rotWithShape="0" blurRad="12700" dist="3810" dir="2700000">
              <a:srgbClr val="000000">
                <a:alpha val="9000"/>
              </a:srgbClr>
            </a:outerShdw>
          </a:effectLst>
        </p:spPr>
        <p:txBody>
          <a:bodyPr wrap="square" lIns="76200" tIns="101600" rIns="101600" bIns="76200" rtlCol="0" anchor="ctr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443216" y="2532888"/>
            <a:ext cx="1709928" cy="201168"/>
          </a:xfrm>
          <a:prstGeom prst="rect">
            <a:avLst/>
          </a:prstGeom>
          <a:solidFill>
            <a:srgbClr val="E6F7F2">
              <a:alpha val="0"/>
            </a:srgbClr>
          </a:solidFill>
          <a:ln>
            <a:solidFill>
              <a:srgbClr val="E6F7F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8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판매연결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424928" y="2807208"/>
            <a:ext cx="1746504" cy="411480"/>
          </a:xfrm>
          <a:prstGeom prst="rect">
            <a:avLst/>
          </a:prstGeom>
          <a:solidFill>
            <a:srgbClr val="E6F7F2">
              <a:alpha val="0"/>
            </a:srgbClr>
          </a:solidFill>
          <a:ln>
            <a:solidFill>
              <a:srgbClr val="E6F7F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 판매 시점</a:t>
            </a:r>
            <a:endParaRPr lang="en-US" sz="12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알림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9464040" y="2423160"/>
            <a:ext cx="1965960" cy="987552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  <a:effectLst>
            <a:outerShdw sx="100000" sy="100000" kx="0" ky="0" algn="bl" rotWithShape="0" blurRad="12700" dist="3810" dir="2700000">
              <a:srgbClr val="000000">
                <a:alpha val="9000"/>
              </a:srgbClr>
            </a:outerShdw>
          </a:effectLst>
        </p:spPr>
        <p:txBody>
          <a:bodyPr wrap="square" lIns="76200" tIns="101600" rIns="101600" bIns="76200" rtlCol="0" anchor="ctr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592056" y="2532888"/>
            <a:ext cx="1709928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금융연결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573768" y="2807208"/>
            <a:ext cx="1746504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매각금 기반</a:t>
            </a:r>
            <a:endParaRPr lang="en-US" sz="12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업그레이드 적금·예산 관리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1572768" y="4983480"/>
            <a:ext cx="9052560" cy="658368"/>
          </a:xfrm>
          <a:prstGeom prst="rect">
            <a:avLst/>
          </a:prstGeom>
          <a:solidFill>
            <a:srgbClr val="0FA67A"/>
          </a:solidFill>
          <a:ln>
            <a:solidFill>
              <a:srgbClr val="0FA67A"/>
            </a:solidFill>
          </a:ln>
        </p:spPr>
        <p:txBody>
          <a:bodyPr wrap="square" lIns="101600" tIns="127000" rIns="127000" bIns="1016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차별점 = “물건의 잔존가치”를 금융 의사결정으로 연결한다는 점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109728" cy="329184"/>
          </a:xfrm>
          <a:prstGeom prst="rect">
            <a:avLst/>
          </a:prstGeom>
          <a:solidFill>
            <a:srgbClr val="0FA67A"/>
          </a:solidFill>
          <a:ln w="12700">
            <a:solidFill>
              <a:srgbClr val="0FA67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29184"/>
            <a:ext cx="8138160" cy="402336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이렇게 경험한다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555480" y="356616"/>
            <a:ext cx="1783080" cy="256032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8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FLOW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841248" y="868680"/>
            <a:ext cx="10561320" cy="0"/>
          </a:xfrm>
          <a:prstGeom prst="line">
            <a:avLst/>
          </a:prstGeom>
          <a:noFill/>
          <a:ln w="12700">
            <a:solidFill>
              <a:srgbClr val="C7D6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19088"/>
            <a:ext cx="256032" cy="164592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060704"/>
            <a:ext cx="5029200" cy="219456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시나리오: 스마트폰 교체를 자주 고민하는 대학생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0120" y="3685032"/>
            <a:ext cx="9784080" cy="0"/>
          </a:xfrm>
          <a:prstGeom prst="line">
            <a:avLst/>
          </a:prstGeom>
          <a:noFill/>
          <a:ln w="12700">
            <a:solidFill>
              <a:srgbClr val="C7D6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19072" y="3474720"/>
            <a:ext cx="201168" cy="201168"/>
          </a:xfrm>
          <a:prstGeom prst="ellipse">
            <a:avLst/>
          </a:prstGeom>
          <a:solidFill>
            <a:srgbClr val="0FA67A"/>
          </a:solidFill>
          <a:ln w="12700">
            <a:solidFill>
              <a:srgbClr val="0FA6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1328" y="3072384"/>
            <a:ext cx="658368" cy="201168"/>
          </a:xfrm>
          <a:prstGeom prst="rect">
            <a:avLst/>
          </a:prstGeom>
          <a:solidFill>
            <a:srgbClr val="EEF4F5"/>
          </a:solidFill>
          <a:ln>
            <a:solidFill>
              <a:srgbClr val="EEF4F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19656" y="3474720"/>
            <a:ext cx="0" cy="-685800"/>
          </a:xfrm>
          <a:prstGeom prst="line">
            <a:avLst/>
          </a:prstGeom>
          <a:noFill/>
          <a:ln w="12700">
            <a:solidFill>
              <a:srgbClr val="C7D6DA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914400" y="1828800"/>
            <a:ext cx="1810512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  <a:effectLst>
            <a:outerShdw sx="100000" sy="100000" kx="0" ky="0" algn="bl" rotWithShape="0" blurRad="11430" dist="3810" dir="2700000">
              <a:srgbClr val="000000">
                <a:alpha val="7000"/>
              </a:srgbClr>
            </a:outerShdw>
          </a:effectLst>
        </p:spPr>
        <p:txBody>
          <a:bodyPr wrap="square" lIns="101600" tIns="127000" rIns="127000" bIns="10160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 구매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120만원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87952" y="3474720"/>
            <a:ext cx="201168" cy="201168"/>
          </a:xfrm>
          <a:prstGeom prst="ellipse">
            <a:avLst/>
          </a:prstGeom>
          <a:solidFill>
            <a:srgbClr val="0FA67A"/>
          </a:solidFill>
          <a:ln w="12700">
            <a:solidFill>
              <a:srgbClr val="0FA6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3072384"/>
            <a:ext cx="658368" cy="201168"/>
          </a:xfrm>
          <a:prstGeom prst="rect">
            <a:avLst/>
          </a:prstGeom>
          <a:solidFill>
            <a:srgbClr val="EEF4F5"/>
          </a:solidFill>
          <a:ln>
            <a:solidFill>
              <a:srgbClr val="EEF4F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88536" y="3474720"/>
            <a:ext cx="0" cy="411480"/>
          </a:xfrm>
          <a:prstGeom prst="line">
            <a:avLst/>
          </a:prstGeom>
          <a:noFill/>
          <a:ln w="12700">
            <a:solidFill>
              <a:srgbClr val="C7D6DA"/>
            </a:solidFill>
            <a:prstDash val="solid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3383280" y="3977640"/>
            <a:ext cx="1810512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  <a:effectLst>
            <a:outerShdw sx="100000" sy="100000" kx="0" ky="0" algn="bl" rotWithShape="0" blurRad="11430" dist="3810" dir="2700000">
              <a:srgbClr val="000000">
                <a:alpha val="7000"/>
              </a:srgbClr>
            </a:outerShdw>
          </a:effectLst>
        </p:spPr>
        <p:txBody>
          <a:bodyPr wrap="square" lIns="101600" tIns="127000" rIns="127000" bIns="10160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물건 지갑 생성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모델명·구매가·보증기한 정리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656832" y="3474720"/>
            <a:ext cx="201168" cy="201168"/>
          </a:xfrm>
          <a:prstGeom prst="ellipse">
            <a:avLst/>
          </a:prstGeom>
          <a:solidFill>
            <a:srgbClr val="0FA67A"/>
          </a:solidFill>
          <a:ln w="12700">
            <a:solidFill>
              <a:srgbClr val="0FA6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3072384"/>
            <a:ext cx="658368" cy="201168"/>
          </a:xfrm>
          <a:prstGeom prst="rect">
            <a:avLst/>
          </a:prstGeom>
          <a:solidFill>
            <a:srgbClr val="EEF4F5"/>
          </a:solidFill>
          <a:ln>
            <a:solidFill>
              <a:srgbClr val="EEF4F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57416" y="3474720"/>
            <a:ext cx="0" cy="-685800"/>
          </a:xfrm>
          <a:prstGeom prst="line">
            <a:avLst/>
          </a:prstGeom>
          <a:noFill/>
          <a:ln w="12700">
            <a:solidFill>
              <a:srgbClr val="C7D6DA"/>
            </a:solidFill>
            <a:prstDash val="solid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5852160" y="1828800"/>
            <a:ext cx="1810512" cy="1005840"/>
          </a:xfrm>
          <a:prstGeom prst="rect">
            <a:avLst/>
          </a:prstGeom>
          <a:solidFill>
            <a:srgbClr val="E6F7F2"/>
          </a:solidFill>
          <a:ln>
            <a:solidFill>
              <a:srgbClr val="0FA67A"/>
            </a:solidFill>
          </a:ln>
          <a:effectLst>
            <a:outerShdw sx="100000" sy="100000" kx="0" ky="0" algn="bl" rotWithShape="0" blurRad="11430" dist="3810" dir="2700000">
              <a:srgbClr val="000000">
                <a:alpha val="7000"/>
              </a:srgbClr>
            </a:outerShdw>
          </a:effectLst>
        </p:spPr>
        <p:txBody>
          <a:bodyPr wrap="square" lIns="101600" tIns="127000" rIns="127000" bIns="10160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예상 판매가 78만원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배터리 교체비 12만원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수리 후 2개월 뒤 판매 추천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9125712" y="3474720"/>
            <a:ext cx="201168" cy="201168"/>
          </a:xfrm>
          <a:prstGeom prst="ellipse">
            <a:avLst/>
          </a:prstGeom>
          <a:solidFill>
            <a:srgbClr val="0FA67A"/>
          </a:solidFill>
          <a:ln w="12700">
            <a:solidFill>
              <a:srgbClr val="0FA6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87968" y="3072384"/>
            <a:ext cx="658368" cy="201168"/>
          </a:xfrm>
          <a:prstGeom prst="rect">
            <a:avLst/>
          </a:prstGeom>
          <a:solidFill>
            <a:srgbClr val="EEF4F5"/>
          </a:solidFill>
          <a:ln>
            <a:solidFill>
              <a:srgbClr val="EEF4F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226296" y="3474720"/>
            <a:ext cx="0" cy="411480"/>
          </a:xfrm>
          <a:prstGeom prst="line">
            <a:avLst/>
          </a:prstGeom>
          <a:noFill/>
          <a:ln w="12700">
            <a:solidFill>
              <a:srgbClr val="C7D6DA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8321040" y="3977640"/>
            <a:ext cx="1810512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  <a:effectLst>
            <a:outerShdw sx="100000" sy="100000" kx="0" ky="0" algn="bl" rotWithShape="0" blurRad="11430" dist="3810" dir="2700000">
              <a:srgbClr val="000000">
                <a:alpha val="7000"/>
              </a:srgbClr>
            </a:outerShdw>
          </a:effectLst>
        </p:spPr>
        <p:txBody>
          <a:bodyPr wrap="square" lIns="101600" tIns="127000" rIns="127000" bIns="10160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매각금 78만원 +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7만원 적금 6개월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다음 교체 예산 완성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51560" y="5285232"/>
            <a:ext cx="97383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</p:spPr>
        <p:txBody>
          <a:bodyPr wrap="square" lIns="127000" tIns="152400" rIns="152400" bIns="1270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“언제 파는 게 좋은지”, “수리하는 게 이득인지”, “다음 교체 예산을 어떻게 만들지”를 하나의 흐름으로 보여줍니다.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109728" cy="329184"/>
          </a:xfrm>
          <a:prstGeom prst="rect">
            <a:avLst/>
          </a:prstGeom>
          <a:solidFill>
            <a:srgbClr val="0FA67A"/>
          </a:solidFill>
          <a:ln w="12700">
            <a:solidFill>
              <a:srgbClr val="0FA67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29184"/>
            <a:ext cx="8138160" cy="402336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1인팀으로 가능한 MVP 설계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555480" y="356616"/>
            <a:ext cx="1783080" cy="256032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8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841248" y="868680"/>
            <a:ext cx="10561320" cy="0"/>
          </a:xfrm>
          <a:prstGeom prst="line">
            <a:avLst/>
          </a:prstGeom>
          <a:noFill/>
          <a:ln w="12700">
            <a:solidFill>
              <a:srgbClr val="C7D6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19088"/>
            <a:ext cx="256032" cy="164592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461772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 wrap="square" lIns="76200" tIns="101600" rIns="101600" bIns="76200" rtlCol="0" anchor="ctr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1572768"/>
            <a:ext cx="749808" cy="219456"/>
          </a:xfrm>
          <a:prstGeom prst="rect">
            <a:avLst/>
          </a:prstGeom>
          <a:solidFill>
            <a:srgbClr val="0FA67A"/>
          </a:solidFill>
          <a:ln>
            <a:solidFill>
              <a:srgbClr val="0FA67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51560" y="2871216"/>
            <a:ext cx="1042416" cy="219456"/>
          </a:xfrm>
          <a:prstGeom prst="rect">
            <a:avLst/>
          </a:prstGeom>
          <a:solidFill>
            <a:srgbClr val="F3C46E"/>
          </a:solidFill>
          <a:ln>
            <a:solidFill>
              <a:srgbClr val="F3C46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ENGINE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51560" y="4498848"/>
            <a:ext cx="822960" cy="219456"/>
          </a:xfrm>
          <a:prstGeom prst="rect">
            <a:avLst/>
          </a:prstGeom>
          <a:solidFill>
            <a:srgbClr val="0FA67A"/>
          </a:solidFill>
          <a:ln>
            <a:solidFill>
              <a:srgbClr val="0FA67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36392" y="2606040"/>
            <a:ext cx="0" cy="210312"/>
          </a:xfrm>
          <a:prstGeom prst="line">
            <a:avLst/>
          </a:prstGeom>
          <a:noFill/>
          <a:ln w="12700">
            <a:solidFill>
              <a:srgbClr val="C7D6DA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136392" y="4187952"/>
            <a:ext cx="0" cy="256032"/>
          </a:xfrm>
          <a:prstGeom prst="line">
            <a:avLst/>
          </a:prstGeom>
          <a:noFill/>
          <a:ln w="12700">
            <a:solidFill>
              <a:srgbClr val="C7D6DA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1051560" y="1901952"/>
            <a:ext cx="960120" cy="640080"/>
          </a:xfrm>
          <a:prstGeom prst="rect">
            <a:avLst/>
          </a:prstGeom>
          <a:solidFill>
            <a:srgbClr val="F3F7F6"/>
          </a:solidFill>
          <a:ln>
            <a:solidFill>
              <a:srgbClr val="D7E2E6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6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결제내역</a:t>
            </a:r>
            <a:endParaRPr lang="en-US" sz="1360" dirty="0"/>
          </a:p>
        </p:txBody>
      </p:sp>
      <p:sp>
        <p:nvSpPr>
          <p:cNvPr id="14" name="Text 12"/>
          <p:cNvSpPr/>
          <p:nvPr/>
        </p:nvSpPr>
        <p:spPr>
          <a:xfrm>
            <a:off x="2084832" y="1901952"/>
            <a:ext cx="960120" cy="640080"/>
          </a:xfrm>
          <a:prstGeom prst="rect">
            <a:avLst/>
          </a:prstGeom>
          <a:solidFill>
            <a:srgbClr val="F3F7F6"/>
          </a:solidFill>
          <a:ln>
            <a:solidFill>
              <a:srgbClr val="D7E2E6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6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영수증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</a:t>
            </a:r>
            <a:endParaRPr lang="en-US" sz="1360" dirty="0"/>
          </a:p>
        </p:txBody>
      </p:sp>
      <p:sp>
        <p:nvSpPr>
          <p:cNvPr id="15" name="Text 13"/>
          <p:cNvSpPr/>
          <p:nvPr/>
        </p:nvSpPr>
        <p:spPr>
          <a:xfrm>
            <a:off x="3118104" y="1901952"/>
            <a:ext cx="960120" cy="640080"/>
          </a:xfrm>
          <a:prstGeom prst="rect">
            <a:avLst/>
          </a:prstGeom>
          <a:solidFill>
            <a:srgbClr val="F3F7F6"/>
          </a:solidFill>
          <a:ln>
            <a:solidFill>
              <a:srgbClr val="D7E2E6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6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제품사진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등록</a:t>
            </a:r>
            <a:endParaRPr lang="en-US" sz="1360" dirty="0"/>
          </a:p>
        </p:txBody>
      </p:sp>
      <p:sp>
        <p:nvSpPr>
          <p:cNvPr id="16" name="Text 14"/>
          <p:cNvSpPr/>
          <p:nvPr/>
        </p:nvSpPr>
        <p:spPr>
          <a:xfrm>
            <a:off x="4151376" y="1901952"/>
            <a:ext cx="960120" cy="640080"/>
          </a:xfrm>
          <a:prstGeom prst="rect">
            <a:avLst/>
          </a:prstGeom>
          <a:solidFill>
            <a:srgbClr val="F3F7F6"/>
          </a:solidFill>
          <a:ln>
            <a:solidFill>
              <a:srgbClr val="D7E2E6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36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시세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 시세</a:t>
            </a:r>
            <a:endParaRPr lang="en-US" sz="1360" dirty="0"/>
          </a:p>
        </p:txBody>
      </p:sp>
      <p:sp>
        <p:nvSpPr>
          <p:cNvPr id="17" name="Text 15"/>
          <p:cNvSpPr/>
          <p:nvPr/>
        </p:nvSpPr>
        <p:spPr>
          <a:xfrm>
            <a:off x="1051560" y="3246120"/>
            <a:ext cx="960120" cy="548640"/>
          </a:xfrm>
          <a:prstGeom prst="rect">
            <a:avLst/>
          </a:prstGeom>
          <a:solidFill>
            <a:srgbClr val="E6F7F2"/>
          </a:solidFill>
          <a:ln>
            <a:solidFill>
              <a:srgbClr val="0FA67A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 식별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084832" y="3246120"/>
            <a:ext cx="960120" cy="548640"/>
          </a:xfrm>
          <a:prstGeom prst="rect">
            <a:avLst/>
          </a:prstGeom>
          <a:solidFill>
            <a:srgbClr val="E6F7F2"/>
          </a:solidFill>
          <a:ln>
            <a:solidFill>
              <a:srgbClr val="0FA67A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추정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118104" y="3246120"/>
            <a:ext cx="960120" cy="548640"/>
          </a:xfrm>
          <a:prstGeom prst="rect">
            <a:avLst/>
          </a:prstGeom>
          <a:solidFill>
            <a:srgbClr val="E6F7F2"/>
          </a:solidFill>
          <a:ln>
            <a:solidFill>
              <a:srgbClr val="0FA67A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감가 예측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151376" y="3246120"/>
            <a:ext cx="960120" cy="548640"/>
          </a:xfrm>
          <a:prstGeom prst="rect">
            <a:avLst/>
          </a:prstGeom>
          <a:solidFill>
            <a:srgbClr val="E6F7F2"/>
          </a:solidFill>
          <a:ln>
            <a:solidFill>
              <a:srgbClr val="0FA67A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엔진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07008" y="4864608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7D6DA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물건 지갑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2487168" y="4864608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7D6DA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420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판매/수리 알림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3767328" y="4864608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7D6DA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420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적금/예산 연결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5760720" y="1371600"/>
            <a:ext cx="548640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 wrap="square" lIns="76200" tIns="101600" rIns="101600" bIns="76200" rtlCol="0" anchor="ctr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016752" y="1645920"/>
            <a:ext cx="4937760" cy="2926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범위는 “좁고 깊게” 가져갑니다.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6016752" y="1984248"/>
            <a:ext cx="4736592" cy="384048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표준화가 잘 된 고가 카테고리부터 시작하면 1인 개발 범위에서도 정확도와 설득력을 확보할 수 있습니다.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6053328" y="2542032"/>
            <a:ext cx="877824" cy="256032"/>
          </a:xfrm>
          <a:prstGeom prst="rect">
            <a:avLst/>
          </a:prstGeom>
          <a:solidFill>
            <a:srgbClr val="E6F7F2"/>
          </a:solidFill>
          <a:ln>
            <a:solidFill>
              <a:srgbClr val="E6F7F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50608" y="2542032"/>
            <a:ext cx="877824" cy="256032"/>
          </a:xfrm>
          <a:prstGeom prst="rect">
            <a:avLst/>
          </a:prstGeom>
          <a:solidFill>
            <a:srgbClr val="EEF4F5"/>
          </a:solidFill>
          <a:ln>
            <a:solidFill>
              <a:srgbClr val="EEF4F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11312" y="2542032"/>
            <a:ext cx="877824" cy="256032"/>
          </a:xfrm>
          <a:prstGeom prst="rect">
            <a:avLst/>
          </a:prstGeom>
          <a:solidFill>
            <a:srgbClr val="E6F7F2"/>
          </a:solidFill>
          <a:ln>
            <a:solidFill>
              <a:srgbClr val="E6F7F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253728" y="2542032"/>
            <a:ext cx="877824" cy="256032"/>
          </a:xfrm>
          <a:prstGeom prst="rect">
            <a:avLst/>
          </a:prstGeom>
          <a:solidFill>
            <a:srgbClr val="EEF4F5"/>
          </a:solidFill>
          <a:ln>
            <a:solidFill>
              <a:srgbClr val="EEF4F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222992" y="2542032"/>
            <a:ext cx="877824" cy="256032"/>
          </a:xfrm>
          <a:prstGeom prst="rect">
            <a:avLst/>
          </a:prstGeom>
          <a:solidFill>
            <a:srgbClr val="E6F7F2"/>
          </a:solidFill>
          <a:ln>
            <a:solidFill>
              <a:srgbClr val="E6F7F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스니커즈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53328" y="3154680"/>
            <a:ext cx="749808" cy="237744"/>
          </a:xfrm>
          <a:prstGeom prst="rect">
            <a:avLst/>
          </a:prstGeom>
          <a:solidFill>
            <a:srgbClr val="0FA67A"/>
          </a:solidFill>
          <a:ln>
            <a:solidFill>
              <a:srgbClr val="0FA67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1–2주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6931152" y="3154680"/>
            <a:ext cx="3794760" cy="420624"/>
          </a:xfrm>
          <a:prstGeom prst="rect">
            <a:avLst/>
          </a:prstGeom>
          <a:solidFill>
            <a:srgbClr val="F3F7F6"/>
          </a:solidFill>
          <a:ln>
            <a:solidFill>
              <a:srgbClr val="D7E2E6"/>
            </a:solidFill>
          </a:ln>
        </p:spPr>
        <p:txBody>
          <a:bodyPr wrap="square" lIns="50800" tIns="88900" rIns="88900" bIns="508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사전 설계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스키마 설계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053328" y="3849624"/>
            <a:ext cx="749808" cy="237744"/>
          </a:xfrm>
          <a:prstGeom prst="rect">
            <a:avLst/>
          </a:prstGeom>
          <a:solidFill>
            <a:srgbClr val="0FA67A"/>
          </a:solidFill>
          <a:ln>
            <a:solidFill>
              <a:srgbClr val="0FA67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3–6주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6931152" y="3776472"/>
            <a:ext cx="379476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</p:spPr>
        <p:txBody>
          <a:bodyPr wrap="square" lIns="50800" tIns="88900" rIns="88900" bIns="508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백엔드/API 구축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결제·OCR 입력 파이프라인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053328" y="4544568"/>
            <a:ext cx="749808" cy="237744"/>
          </a:xfrm>
          <a:prstGeom prst="rect">
            <a:avLst/>
          </a:prstGeom>
          <a:solidFill>
            <a:srgbClr val="0FA67A"/>
          </a:solidFill>
          <a:ln>
            <a:solidFill>
              <a:srgbClr val="0FA67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7–9주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6931152" y="4398264"/>
            <a:ext cx="3794760" cy="420624"/>
          </a:xfrm>
          <a:prstGeom prst="rect">
            <a:avLst/>
          </a:prstGeom>
          <a:solidFill>
            <a:srgbClr val="F3F7F6"/>
          </a:solidFill>
          <a:ln>
            <a:solidFill>
              <a:srgbClr val="D7E2E6"/>
            </a:solidFill>
          </a:ln>
        </p:spPr>
        <p:txBody>
          <a:bodyPr wrap="square" lIns="50800" tIns="88900" rIns="88900" bIns="508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추정 모델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 기반 추천 엔진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053328" y="5239512"/>
            <a:ext cx="749808" cy="237744"/>
          </a:xfrm>
          <a:prstGeom prst="rect">
            <a:avLst/>
          </a:prstGeom>
          <a:solidFill>
            <a:srgbClr val="0FA67A"/>
          </a:solidFill>
          <a:ln>
            <a:solidFill>
              <a:srgbClr val="0FA67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10–12주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6931152" y="5020056"/>
            <a:ext cx="379476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</p:spPr>
        <p:txBody>
          <a:bodyPr wrap="square" lIns="50800" tIns="88900" rIns="88900" bIns="508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고도화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흐름 검증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109728" cy="329184"/>
          </a:xfrm>
          <a:prstGeom prst="rect">
            <a:avLst/>
          </a:prstGeom>
          <a:solidFill>
            <a:srgbClr val="0FA67A"/>
          </a:solidFill>
          <a:ln w="12700">
            <a:solidFill>
              <a:srgbClr val="0FA67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29184"/>
            <a:ext cx="8138160" cy="402336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다른가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555480" y="356616"/>
            <a:ext cx="1783080" cy="256032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8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DIFFERENTIATION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841248" y="868680"/>
            <a:ext cx="10561320" cy="0"/>
          </a:xfrm>
          <a:prstGeom prst="line">
            <a:avLst/>
          </a:prstGeom>
          <a:noFill/>
          <a:ln w="12700">
            <a:solidFill>
              <a:srgbClr val="C7D6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19088"/>
            <a:ext cx="256032" cy="164592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051560"/>
            <a:ext cx="10789920" cy="256032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8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서비스는 각각 돈·가격·거래에 집중합니다. 하나 LOOP는 “보유 물건의 잔존가치 + 금융 행동”을 함께 다룹니다.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804672" y="1627632"/>
            <a:ext cx="3246120" cy="530352"/>
          </a:xfrm>
          <a:prstGeom prst="rect">
            <a:avLst/>
          </a:prstGeom>
          <a:solidFill>
            <a:srgbClr val="0F2433"/>
          </a:solidFill>
          <a:ln>
            <a:solidFill>
              <a:srgbClr val="0F2433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항목</a:t>
            </a:r>
            <a:endParaRPr lang="en-US" sz="1620" dirty="0"/>
          </a:p>
        </p:txBody>
      </p:sp>
      <p:sp>
        <p:nvSpPr>
          <p:cNvPr id="9" name="Text 7"/>
          <p:cNvSpPr/>
          <p:nvPr/>
        </p:nvSpPr>
        <p:spPr>
          <a:xfrm>
            <a:off x="4050792" y="1627632"/>
            <a:ext cx="1874520" cy="530352"/>
          </a:xfrm>
          <a:prstGeom prst="rect">
            <a:avLst/>
          </a:prstGeom>
          <a:solidFill>
            <a:srgbClr val="0F2433"/>
          </a:solidFill>
          <a:ln>
            <a:solidFill>
              <a:srgbClr val="0F2433"/>
            </a:solidFill>
          </a:ln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 앱</a:t>
            </a:r>
            <a:endParaRPr lang="en-US" sz="1620" dirty="0"/>
          </a:p>
        </p:txBody>
      </p:sp>
      <p:sp>
        <p:nvSpPr>
          <p:cNvPr id="10" name="Text 8"/>
          <p:cNvSpPr/>
          <p:nvPr/>
        </p:nvSpPr>
        <p:spPr>
          <a:xfrm>
            <a:off x="5925312" y="1627632"/>
            <a:ext cx="1874520" cy="530352"/>
          </a:xfrm>
          <a:prstGeom prst="rect">
            <a:avLst/>
          </a:prstGeom>
          <a:solidFill>
            <a:srgbClr val="0F2433"/>
          </a:solidFill>
          <a:ln>
            <a:solidFill>
              <a:srgbClr val="0F2433"/>
            </a:solidFill>
          </a:ln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리셀 도구</a:t>
            </a:r>
            <a:endParaRPr lang="en-US" sz="1620" dirty="0"/>
          </a:p>
        </p:txBody>
      </p:sp>
      <p:sp>
        <p:nvSpPr>
          <p:cNvPr id="11" name="Text 9"/>
          <p:cNvSpPr/>
          <p:nvPr/>
        </p:nvSpPr>
        <p:spPr>
          <a:xfrm>
            <a:off x="7799832" y="1627632"/>
            <a:ext cx="1874520" cy="530352"/>
          </a:xfrm>
          <a:prstGeom prst="rect">
            <a:avLst/>
          </a:prstGeom>
          <a:solidFill>
            <a:srgbClr val="0F2433"/>
          </a:solidFill>
          <a:ln>
            <a:solidFill>
              <a:srgbClr val="0F2433"/>
            </a:solidFill>
          </a:ln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중고 플랫폼</a:t>
            </a:r>
            <a:endParaRPr lang="en-US" sz="1620" dirty="0"/>
          </a:p>
        </p:txBody>
      </p:sp>
      <p:sp>
        <p:nvSpPr>
          <p:cNvPr id="12" name="Text 10"/>
          <p:cNvSpPr/>
          <p:nvPr/>
        </p:nvSpPr>
        <p:spPr>
          <a:xfrm>
            <a:off x="9674352" y="1627632"/>
            <a:ext cx="2121408" cy="530352"/>
          </a:xfrm>
          <a:prstGeom prst="rect">
            <a:avLst/>
          </a:prstGeom>
          <a:solidFill>
            <a:srgbClr val="0FA67A"/>
          </a:solidFill>
          <a:ln>
            <a:solidFill>
              <a:srgbClr val="0FA67A"/>
            </a:solidFill>
          </a:ln>
        </p:spPr>
        <p:txBody>
          <a:bodyPr wrap="square" lIns="50800" tIns="127000" rIns="127000" bIns="5080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LOOP</a:t>
            </a:r>
            <a:endParaRPr lang="en-US" sz="1620" dirty="0"/>
          </a:p>
        </p:txBody>
      </p:sp>
      <p:sp>
        <p:nvSpPr>
          <p:cNvPr id="13" name="Text 11"/>
          <p:cNvSpPr/>
          <p:nvPr/>
        </p:nvSpPr>
        <p:spPr>
          <a:xfrm>
            <a:off x="804672" y="2212848"/>
            <a:ext cx="324612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물건 인벤토리 자동화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4050792" y="2212848"/>
            <a:ext cx="187452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AA7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925312" y="2212848"/>
            <a:ext cx="187452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799832" y="2212848"/>
            <a:ext cx="187452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AA7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674352" y="2212848"/>
            <a:ext cx="2121408" cy="694944"/>
          </a:xfrm>
          <a:prstGeom prst="rect">
            <a:avLst/>
          </a:prstGeom>
          <a:solidFill>
            <a:srgbClr val="E6F7F2"/>
          </a:solidFill>
          <a:ln>
            <a:solidFill>
              <a:srgbClr val="D7E2E6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8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04672" y="2926080"/>
            <a:ext cx="3246120" cy="694944"/>
          </a:xfrm>
          <a:prstGeom prst="rect">
            <a:avLst/>
          </a:prstGeom>
          <a:solidFill>
            <a:srgbClr val="F3F7F6"/>
          </a:solidFill>
          <a:ln>
            <a:solidFill>
              <a:srgbClr val="D7E2E6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잔존가치/감가 추정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4050792" y="2926080"/>
            <a:ext cx="1874520" cy="694944"/>
          </a:xfrm>
          <a:prstGeom prst="rect">
            <a:avLst/>
          </a:prstGeom>
          <a:solidFill>
            <a:srgbClr val="F3F7F6"/>
          </a:solidFill>
          <a:ln>
            <a:solidFill>
              <a:srgbClr val="D7E2E6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AA7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925312" y="2926080"/>
            <a:ext cx="1874520" cy="694944"/>
          </a:xfrm>
          <a:prstGeom prst="rect">
            <a:avLst/>
          </a:prstGeom>
          <a:solidFill>
            <a:srgbClr val="F3F7F6"/>
          </a:solidFill>
          <a:ln>
            <a:solidFill>
              <a:srgbClr val="D7E2E6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8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799832" y="2926080"/>
            <a:ext cx="1874520" cy="694944"/>
          </a:xfrm>
          <a:prstGeom prst="rect">
            <a:avLst/>
          </a:prstGeom>
          <a:solidFill>
            <a:srgbClr val="F3F7F6"/>
          </a:solidFill>
          <a:ln>
            <a:solidFill>
              <a:srgbClr val="D7E2E6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674352" y="2926080"/>
            <a:ext cx="2121408" cy="694944"/>
          </a:xfrm>
          <a:prstGeom prst="rect">
            <a:avLst/>
          </a:prstGeom>
          <a:solidFill>
            <a:srgbClr val="E6F7F2"/>
          </a:solidFill>
          <a:ln>
            <a:solidFill>
              <a:srgbClr val="D7E2E6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8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04672" y="3639312"/>
            <a:ext cx="324612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수리 vs 판매 vs 재구매 추천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4050792" y="3639312"/>
            <a:ext cx="187452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AA7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5925312" y="3639312"/>
            <a:ext cx="187452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799832" y="3639312"/>
            <a:ext cx="187452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674352" y="3639312"/>
            <a:ext cx="2121408" cy="694944"/>
          </a:xfrm>
          <a:prstGeom prst="rect">
            <a:avLst/>
          </a:prstGeom>
          <a:solidFill>
            <a:srgbClr val="E6F7F2"/>
          </a:solidFill>
          <a:ln>
            <a:solidFill>
              <a:srgbClr val="D7E2E6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8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804672" y="4352544"/>
            <a:ext cx="3246120" cy="694944"/>
          </a:xfrm>
          <a:prstGeom prst="rect">
            <a:avLst/>
          </a:prstGeom>
          <a:solidFill>
            <a:srgbClr val="F3F7F6"/>
          </a:solidFill>
          <a:ln>
            <a:solidFill>
              <a:srgbClr val="D7E2E6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금융상품/저축 연계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4050792" y="4352544"/>
            <a:ext cx="1874520" cy="694944"/>
          </a:xfrm>
          <a:prstGeom prst="rect">
            <a:avLst/>
          </a:prstGeom>
          <a:solidFill>
            <a:srgbClr val="F3F7F6"/>
          </a:solidFill>
          <a:ln>
            <a:solidFill>
              <a:srgbClr val="D7E2E6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AA7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5925312" y="4352544"/>
            <a:ext cx="1874520" cy="694944"/>
          </a:xfrm>
          <a:prstGeom prst="rect">
            <a:avLst/>
          </a:prstGeom>
          <a:solidFill>
            <a:srgbClr val="F3F7F6"/>
          </a:solidFill>
          <a:ln>
            <a:solidFill>
              <a:srgbClr val="D7E2E6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AA7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7799832" y="4352544"/>
            <a:ext cx="1874520" cy="694944"/>
          </a:xfrm>
          <a:prstGeom prst="rect">
            <a:avLst/>
          </a:prstGeom>
          <a:solidFill>
            <a:srgbClr val="F3F7F6"/>
          </a:solidFill>
          <a:ln>
            <a:solidFill>
              <a:srgbClr val="D7E2E6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AA7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9674352" y="4352544"/>
            <a:ext cx="2121408" cy="694944"/>
          </a:xfrm>
          <a:prstGeom prst="rect">
            <a:avLst/>
          </a:prstGeom>
          <a:solidFill>
            <a:srgbClr val="E6F7F2"/>
          </a:solidFill>
          <a:ln>
            <a:solidFill>
              <a:srgbClr val="D7E2E6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8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822960" y="5376672"/>
            <a:ext cx="4709160" cy="310896"/>
          </a:xfrm>
          <a:prstGeom prst="rect">
            <a:avLst/>
          </a:prstGeom>
          <a:solidFill>
            <a:srgbClr val="EEF4F5"/>
          </a:solidFill>
          <a:ln>
            <a:solidFill>
              <a:srgbClr val="EEF4F5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핵심 제공   |   △ 제한적 제공   |   — 제공하지 않음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907024" y="5266944"/>
            <a:ext cx="5376672" cy="841248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620" dirty="0"/>
          </a:p>
          <a:p>
            <a:pPr algn="l" indent="0" marL="0">
              <a:buNone/>
            </a:pPr>
            <a:r>
              <a:rPr lang="en-US" sz="162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서비스는 “판매를 쉽게” 또는 “가격을 빠르게” 만드는 데 강합니다.</a:t>
            </a:r>
            <a:endParaRPr lang="en-US" sz="1620" dirty="0"/>
          </a:p>
          <a:p>
            <a:pPr algn="l" indent="0" marL="0">
              <a:buNone/>
            </a:pPr>
            <a:r>
              <a:rPr lang="en-US" sz="162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LOOP는 여기에 “언제 팔고, 어떻게 아끼고, 무엇을 저축할지”를 더합니다.</a:t>
            </a:r>
            <a:endParaRPr lang="en-US" sz="16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109728" cy="329184"/>
          </a:xfrm>
          <a:prstGeom prst="rect">
            <a:avLst/>
          </a:prstGeom>
          <a:solidFill>
            <a:srgbClr val="0FA67A"/>
          </a:solidFill>
          <a:ln w="12700">
            <a:solidFill>
              <a:srgbClr val="0FA67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29184"/>
            <a:ext cx="8138160" cy="402336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하나금융에 왜 좋은가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555480" y="356616"/>
            <a:ext cx="1783080" cy="256032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8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841248" y="868680"/>
            <a:ext cx="10561320" cy="0"/>
          </a:xfrm>
          <a:prstGeom prst="line">
            <a:avLst/>
          </a:prstGeom>
          <a:noFill/>
          <a:ln w="12700">
            <a:solidFill>
              <a:srgbClr val="C7D6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19088"/>
            <a:ext cx="256032" cy="164592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645920"/>
            <a:ext cx="27889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 wrap="square" lIns="76200" tIns="101600" rIns="101600" bIns="76200" rtlCol="0" anchor="ctr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24128" y="1865376"/>
            <a:ext cx="841248" cy="256032"/>
          </a:xfrm>
          <a:prstGeom prst="rect">
            <a:avLst/>
          </a:prstGeom>
          <a:solidFill>
            <a:srgbClr val="0FA67A"/>
          </a:solidFill>
          <a:ln>
            <a:solidFill>
              <a:srgbClr val="0FA67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접점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24128" y="2304288"/>
            <a:ext cx="548640" cy="3840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A6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24128" y="2761488"/>
            <a:ext cx="2423160" cy="217627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2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“사는 날”보다 “교체를 고민하는 날”이 훨씬 많습니다. LOOP는 그 순간마다 앱에 돌아올 이유를 만듭니다.</a:t>
            </a:r>
            <a:endParaRPr lang="en-US" sz="1620" dirty="0"/>
          </a:p>
        </p:txBody>
      </p:sp>
      <p:sp>
        <p:nvSpPr>
          <p:cNvPr id="11" name="Text 9"/>
          <p:cNvSpPr/>
          <p:nvPr/>
        </p:nvSpPr>
        <p:spPr>
          <a:xfrm>
            <a:off x="4069080" y="1645920"/>
            <a:ext cx="27889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 wrap="square" lIns="76200" tIns="101600" rIns="101600" bIns="76200" rtlCol="0" anchor="ctr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251960" y="1865376"/>
            <a:ext cx="978408" cy="256032"/>
          </a:xfrm>
          <a:prstGeom prst="rect">
            <a:avLst/>
          </a:prstGeom>
          <a:solidFill>
            <a:srgbClr val="F3C46E"/>
          </a:solidFill>
          <a:ln>
            <a:solidFill>
              <a:srgbClr val="F3C46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51960" y="2304288"/>
            <a:ext cx="548640" cy="3840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C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251960" y="2761488"/>
            <a:ext cx="2423160" cy="217627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2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업그레이드 적금, 수리/매각/보증 제휴, 카드 사용 확대까지 연결할 수 있는 신규 수익 흐름을 만듭니다.</a:t>
            </a:r>
            <a:endParaRPr lang="en-US" sz="1620" dirty="0"/>
          </a:p>
        </p:txBody>
      </p:sp>
      <p:sp>
        <p:nvSpPr>
          <p:cNvPr id="15" name="Text 13"/>
          <p:cNvSpPr/>
          <p:nvPr/>
        </p:nvSpPr>
        <p:spPr>
          <a:xfrm>
            <a:off x="7296912" y="1645920"/>
            <a:ext cx="27889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 wrap="square" lIns="76200" tIns="101600" rIns="101600" bIns="76200" rtlCol="0" anchor="ctr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479792" y="1865376"/>
            <a:ext cx="841248" cy="256032"/>
          </a:xfrm>
          <a:prstGeom prst="rect">
            <a:avLst/>
          </a:prstGeom>
          <a:solidFill>
            <a:srgbClr val="0FA67A"/>
          </a:solidFill>
          <a:ln>
            <a:solidFill>
              <a:srgbClr val="0FA67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자산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79792" y="2304288"/>
            <a:ext cx="548640" cy="3840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A6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479792" y="2761488"/>
            <a:ext cx="2423160" cy="217627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2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물건 교체주기·잔존가치·소비성향이 쌓이면 개인화 추천의 해상도가 높아지고 장기적으로 강한 데이터 moat가 됩니다.</a:t>
            </a:r>
            <a:endParaRPr lang="en-US" sz="1620" dirty="0"/>
          </a:p>
        </p:txBody>
      </p:sp>
      <p:sp>
        <p:nvSpPr>
          <p:cNvPr id="19" name="Text 17"/>
          <p:cNvSpPr/>
          <p:nvPr/>
        </p:nvSpPr>
        <p:spPr>
          <a:xfrm>
            <a:off x="1188720" y="6099048"/>
            <a:ext cx="9829800" cy="384048"/>
          </a:xfrm>
          <a:prstGeom prst="rect">
            <a:avLst/>
          </a:prstGeom>
          <a:solidFill>
            <a:srgbClr val="0F2433"/>
          </a:solidFill>
          <a:ln>
            <a:solidFill>
              <a:srgbClr val="0F2433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예금·카드·대출에 이어 “생활 자산”이라는 새로운 데이터 레이어를 확보할 수 있습니다.</a:t>
            </a:r>
            <a:endParaRPr lang="en-US" sz="1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109728" cy="329184"/>
          </a:xfrm>
          <a:prstGeom prst="rect">
            <a:avLst/>
          </a:prstGeom>
          <a:solidFill>
            <a:srgbClr val="0FA67A"/>
          </a:solidFill>
          <a:ln w="12700">
            <a:solidFill>
              <a:srgbClr val="0FA67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29184"/>
            <a:ext cx="8138160" cy="402336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555480" y="356616"/>
            <a:ext cx="1783080" cy="256032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8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IMPACT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841248" y="868680"/>
            <a:ext cx="10561320" cy="0"/>
          </a:xfrm>
          <a:prstGeom prst="line">
            <a:avLst/>
          </a:prstGeom>
          <a:noFill/>
          <a:ln w="12700">
            <a:solidFill>
              <a:srgbClr val="C7D6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19088"/>
            <a:ext cx="256032" cy="164592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097280"/>
            <a:ext cx="6720840" cy="347472"/>
          </a:xfrm>
          <a:prstGeom prst="rect">
            <a:avLst/>
          </a:prstGeom>
          <a:solidFill>
            <a:srgbClr val="F3C46E"/>
          </a:solidFill>
          <a:ln>
            <a:solidFill>
              <a:srgbClr val="F3C46E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2022년 글로벌 전자폐기물 620억 kg, 공식 수거·재활용 비율 22.3%만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1517904"/>
            <a:ext cx="10241280" cy="256032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6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잔존가치를 보여주는 금융 서비스는 “버리는 소비”를 늦추는 작은 행동 변화를 만들 수 있습니다.</a:t>
            </a:r>
            <a:endParaRPr lang="en-US" sz="1360" dirty="0"/>
          </a:p>
        </p:txBody>
      </p:sp>
      <p:sp>
        <p:nvSpPr>
          <p:cNvPr id="9" name="Text 7"/>
          <p:cNvSpPr/>
          <p:nvPr/>
        </p:nvSpPr>
        <p:spPr>
          <a:xfrm>
            <a:off x="841248" y="2011680"/>
            <a:ext cx="2743200" cy="3520440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 wrap="square" lIns="76200" tIns="101600" rIns="101600" bIns="76200" rtlCol="0" anchor="ctr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24128" y="2240280"/>
            <a:ext cx="676656" cy="256032"/>
          </a:xfrm>
          <a:prstGeom prst="rect">
            <a:avLst/>
          </a:prstGeom>
          <a:solidFill>
            <a:srgbClr val="EEF4F5"/>
          </a:solidFill>
          <a:ln>
            <a:solidFill>
              <a:srgbClr val="EEF4F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42416" y="2743200"/>
            <a:ext cx="2340864" cy="17556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총소유비용 절감</a:t>
            </a:r>
            <a:endParaRPr lang="en-US" sz="1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계획적인 교체</a:t>
            </a:r>
            <a:endParaRPr lang="en-US" sz="1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불필요한 신제품 소비 감소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041648" y="2011680"/>
            <a:ext cx="2743200" cy="3520440"/>
          </a:xfrm>
          <a:prstGeom prst="rect">
            <a:avLst/>
          </a:prstGeom>
          <a:solidFill>
            <a:srgbClr val="E6F7F2"/>
          </a:solidFill>
          <a:ln>
            <a:solidFill>
              <a:srgbClr val="0FA67A"/>
            </a:solidFill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 wrap="square" lIns="76200" tIns="101600" rIns="101600" bIns="76200" rtlCol="0" anchor="ctr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24528" y="2240280"/>
            <a:ext cx="676656" cy="256032"/>
          </a:xfrm>
          <a:prstGeom prst="rect">
            <a:avLst/>
          </a:prstGeom>
          <a:solidFill>
            <a:srgbClr val="0FA67A"/>
          </a:solidFill>
          <a:ln>
            <a:solidFill>
              <a:srgbClr val="0FA67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하나금융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42816" y="2743200"/>
            <a:ext cx="2340864" cy="1755648"/>
          </a:xfrm>
          <a:prstGeom prst="rect">
            <a:avLst/>
          </a:prstGeom>
          <a:solidFill>
            <a:srgbClr val="E6F7F2">
              <a:alpha val="0"/>
            </a:srgbClr>
          </a:solidFill>
          <a:ln>
            <a:solidFill>
              <a:srgbClr val="E6F7F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자산 카테고리 선점</a:t>
            </a:r>
            <a:endParaRPr lang="en-US" sz="1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청년 고객 락인 강화</a:t>
            </a:r>
            <a:endParaRPr lang="en-US" sz="1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ESG형 생활금융 브랜딩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242048" y="2011680"/>
            <a:ext cx="2743200" cy="3520440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 wrap="square" lIns="76200" tIns="101600" rIns="101600" bIns="76200" rtlCol="0" anchor="ctr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424928" y="2240280"/>
            <a:ext cx="676656" cy="256032"/>
          </a:xfrm>
          <a:prstGeom prst="rect">
            <a:avLst/>
          </a:prstGeom>
          <a:solidFill>
            <a:srgbClr val="EEF4F5"/>
          </a:solidFill>
          <a:ln>
            <a:solidFill>
              <a:srgbClr val="EEF4F5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43216" y="2743200"/>
            <a:ext cx="2340864" cy="17556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수명 연장</a:t>
            </a:r>
            <a:endParaRPr lang="en-US" sz="1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수리·중고 활성화</a:t>
            </a:r>
            <a:endParaRPr lang="en-US" sz="1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 감소 및 순환경제 기여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892808" y="5989320"/>
            <a:ext cx="8412480" cy="420624"/>
          </a:xfrm>
          <a:prstGeom prst="rect">
            <a:avLst/>
          </a:prstGeom>
          <a:solidFill>
            <a:srgbClr val="0FA67A"/>
          </a:solidFill>
          <a:ln>
            <a:solidFill>
              <a:srgbClr val="0FA67A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LOOP는 고객의 절약 행동과 ESG 가치를 동시에 만드는 구조입니다.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109728" cy="329184"/>
          </a:xfrm>
          <a:prstGeom prst="rect">
            <a:avLst/>
          </a:prstGeom>
          <a:solidFill>
            <a:srgbClr val="0FA67A"/>
          </a:solidFill>
          <a:ln w="12700">
            <a:solidFill>
              <a:srgbClr val="0FA67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29184"/>
            <a:ext cx="8138160" cy="402336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항목에 맞춘 수상 전략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555480" y="356616"/>
            <a:ext cx="1783080" cy="256032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8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WINNING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841248" y="868680"/>
            <a:ext cx="10561320" cy="0"/>
          </a:xfrm>
          <a:prstGeom prst="line">
            <a:avLst/>
          </a:prstGeom>
          <a:noFill/>
          <a:ln w="12700">
            <a:solidFill>
              <a:srgbClr val="C7D6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19088"/>
            <a:ext cx="256032" cy="164592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078992"/>
            <a:ext cx="10698480" cy="237744"/>
          </a:xfrm>
          <a:prstGeom prst="rect">
            <a:avLst/>
          </a:prstGeom>
          <a:solidFill>
            <a:srgbClr val="F7FAF9">
              <a:alpha val="0"/>
            </a:srgbClr>
          </a:solidFill>
          <a:ln>
            <a:solidFill>
              <a:srgbClr val="F7FAF9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80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심사 기준을 그대로 역으로 풀어 “개인 출전 = 범위는 좁게, 완성도는 깊게” 전략으로 설계했습니다.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841248" y="1600200"/>
            <a:ext cx="1965960" cy="512064"/>
          </a:xfrm>
          <a:prstGeom prst="rect">
            <a:avLst/>
          </a:prstGeom>
          <a:solidFill>
            <a:srgbClr val="0F2433"/>
          </a:solidFill>
          <a:ln>
            <a:solidFill>
              <a:srgbClr val="0F2433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620" dirty="0"/>
          </a:p>
        </p:txBody>
      </p:sp>
      <p:sp>
        <p:nvSpPr>
          <p:cNvPr id="9" name="Text 7"/>
          <p:cNvSpPr/>
          <p:nvPr/>
        </p:nvSpPr>
        <p:spPr>
          <a:xfrm>
            <a:off x="2807208" y="1600200"/>
            <a:ext cx="4069080" cy="512064"/>
          </a:xfrm>
          <a:prstGeom prst="rect">
            <a:avLst/>
          </a:prstGeom>
          <a:solidFill>
            <a:srgbClr val="0F2433"/>
          </a:solidFill>
          <a:ln>
            <a:solidFill>
              <a:srgbClr val="0F2433"/>
            </a:solidFill>
          </a:ln>
        </p:spPr>
        <p:txBody>
          <a:bodyPr wrap="square" lIns="76200" tIns="101600" rIns="101600" bIns="7620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LOOP의 대응</a:t>
            </a:r>
            <a:endParaRPr lang="en-US" sz="1620" dirty="0"/>
          </a:p>
        </p:txBody>
      </p:sp>
      <p:sp>
        <p:nvSpPr>
          <p:cNvPr id="10" name="Text 8"/>
          <p:cNvSpPr/>
          <p:nvPr/>
        </p:nvSpPr>
        <p:spPr>
          <a:xfrm>
            <a:off x="841248" y="2167128"/>
            <a:ext cx="19659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실현가능성 30%</a:t>
            </a:r>
            <a:endParaRPr lang="en-US" sz="1580" dirty="0"/>
          </a:p>
        </p:txBody>
      </p:sp>
      <p:sp>
        <p:nvSpPr>
          <p:cNvPr id="11" name="Text 9"/>
          <p:cNvSpPr/>
          <p:nvPr/>
        </p:nvSpPr>
        <p:spPr>
          <a:xfrm>
            <a:off x="2807208" y="2167128"/>
            <a:ext cx="40690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고가·표준화 품목부터 시작하는 1인 MVP로 기술 범위를 통제</a:t>
            </a:r>
            <a:endParaRPr lang="en-US" sz="1480" dirty="0"/>
          </a:p>
        </p:txBody>
      </p:sp>
      <p:sp>
        <p:nvSpPr>
          <p:cNvPr id="12" name="Text 10"/>
          <p:cNvSpPr/>
          <p:nvPr/>
        </p:nvSpPr>
        <p:spPr>
          <a:xfrm>
            <a:off x="841248" y="2935224"/>
            <a:ext cx="1965960" cy="749808"/>
          </a:xfrm>
          <a:prstGeom prst="rect">
            <a:avLst/>
          </a:prstGeom>
          <a:solidFill>
            <a:srgbClr val="F3F7F6"/>
          </a:solidFill>
          <a:ln>
            <a:solidFill>
              <a:srgbClr val="D7E2E6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사업성 30%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2807208" y="2935224"/>
            <a:ext cx="4069080" cy="749808"/>
          </a:xfrm>
          <a:prstGeom prst="rect">
            <a:avLst/>
          </a:prstGeom>
          <a:solidFill>
            <a:srgbClr val="F3F7F6"/>
          </a:solidFill>
          <a:ln>
            <a:solidFill>
              <a:srgbClr val="D7E2E6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적금·제휴·리텐션·데이터 확장까지 연결되는 금융형 BM</a:t>
            </a:r>
            <a:endParaRPr lang="en-US" sz="1480" dirty="0"/>
          </a:p>
        </p:txBody>
      </p:sp>
      <p:sp>
        <p:nvSpPr>
          <p:cNvPr id="14" name="Text 12"/>
          <p:cNvSpPr/>
          <p:nvPr/>
        </p:nvSpPr>
        <p:spPr>
          <a:xfrm>
            <a:off x="841248" y="3703320"/>
            <a:ext cx="19659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참신성 30%</a:t>
            </a:r>
            <a:endParaRPr lang="en-US" sz="1580" dirty="0"/>
          </a:p>
        </p:txBody>
      </p:sp>
      <p:sp>
        <p:nvSpPr>
          <p:cNvPr id="15" name="Text 13"/>
          <p:cNvSpPr/>
          <p:nvPr/>
        </p:nvSpPr>
        <p:spPr>
          <a:xfrm>
            <a:off x="2807208" y="3703320"/>
            <a:ext cx="40690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E2E6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생활용품 잔존가치를 금융 신호로 쓰는 새로운 생활금융 레이어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841248" y="4471416"/>
            <a:ext cx="1965960" cy="749808"/>
          </a:xfrm>
          <a:prstGeom prst="rect">
            <a:avLst/>
          </a:prstGeom>
          <a:solidFill>
            <a:srgbClr val="F3F7F6"/>
          </a:solidFill>
          <a:ln>
            <a:solidFill>
              <a:srgbClr val="D7E2E6"/>
            </a:solidFill>
          </a:ln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0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자료완결성 10%</a:t>
            </a:r>
            <a:endParaRPr lang="en-US" sz="1580" dirty="0"/>
          </a:p>
        </p:txBody>
      </p:sp>
      <p:sp>
        <p:nvSpPr>
          <p:cNvPr id="17" name="Text 15"/>
          <p:cNvSpPr/>
          <p:nvPr/>
        </p:nvSpPr>
        <p:spPr>
          <a:xfrm>
            <a:off x="2807208" y="4471416"/>
            <a:ext cx="4069080" cy="749808"/>
          </a:xfrm>
          <a:prstGeom prst="rect">
            <a:avLst/>
          </a:prstGeom>
          <a:solidFill>
            <a:srgbClr val="F3F7F6"/>
          </a:solidFill>
          <a:ln>
            <a:solidFill>
              <a:srgbClr val="D7E2E6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6673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시장·정책·사용자 흐름·로드맵을 한 번에 제시</a:t>
            </a:r>
            <a:endParaRPr lang="en-US" sz="1480" dirty="0"/>
          </a:p>
        </p:txBody>
      </p:sp>
      <p:sp>
        <p:nvSpPr>
          <p:cNvPr id="18" name="Text 16"/>
          <p:cNvSpPr/>
          <p:nvPr/>
        </p:nvSpPr>
        <p:spPr>
          <a:xfrm>
            <a:off x="7315200" y="1755648"/>
            <a:ext cx="3703320" cy="4096512"/>
          </a:xfrm>
          <a:prstGeom prst="rect">
            <a:avLst/>
          </a:prstGeom>
          <a:solidFill>
            <a:srgbClr val="0F2433"/>
          </a:solidFill>
          <a:ln>
            <a:solidFill>
              <a:srgbClr val="17364A"/>
            </a:solidFill>
          </a:ln>
          <a:effectLst>
            <a:outerShdw sx="100000" sy="100000" kx="0" ky="0" algn="bl" rotWithShape="0" blurRad="22860" dist="6350" dir="2700000">
              <a:srgbClr val="000000">
                <a:alpha val="14000"/>
              </a:srgbClr>
            </a:outerShdw>
          </a:effectLst>
        </p:spPr>
        <p:txBody>
          <a:bodyPr wrap="square" lIns="76200" tIns="101600" rIns="101600" bIns="76200" rtlCol="0" anchor="ctr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626096" y="2212848"/>
            <a:ext cx="3090672" cy="1810512"/>
          </a:xfrm>
          <a:prstGeom prst="rect">
            <a:avLst/>
          </a:prstGeom>
          <a:solidFill>
            <a:srgbClr val="0F2433">
              <a:alpha val="0"/>
            </a:srgbClr>
          </a:solidFill>
          <a:ln>
            <a:solidFill>
              <a:srgbClr val="0F243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LOOP는</a:t>
            </a:r>
            <a:endParaRPr lang="en-US" sz="24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청년의 지출 데이터를</a:t>
            </a:r>
            <a:endParaRPr lang="en-US" sz="24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“회수 가능한 자산”으로</a:t>
            </a:r>
            <a:endParaRPr lang="en-US" sz="24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번역하는 새로운 금융 레이어입니다.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818120" y="4663440"/>
            <a:ext cx="2697480" cy="841248"/>
          </a:xfrm>
          <a:prstGeom prst="rect">
            <a:avLst/>
          </a:prstGeom>
          <a:solidFill>
            <a:srgbClr val="0FA67A"/>
          </a:solidFill>
          <a:ln>
            <a:solidFill>
              <a:srgbClr val="0FA67A"/>
            </a:solidFill>
          </a:ln>
        </p:spPr>
        <p:txBody>
          <a:bodyPr wrap="square" lIns="101600" tIns="127000" rIns="127000" bIns="10160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출전 전략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영역은 좁게, 설계는 깊게,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MVP는 끝까지 보여준다.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하나 LOOP - AI 순환자산 금융</dc:title>
  <dc:subject>하나 LOOP 제안서</dc:subject>
  <dc:creator>OpenAI</dc:creator>
  <cp:lastModifiedBy>OpenAI</cp:lastModifiedBy>
  <cp:revision>1</cp:revision>
  <dcterms:created xsi:type="dcterms:W3CDTF">2026-03-27T13:00:38Z</dcterms:created>
  <dcterms:modified xsi:type="dcterms:W3CDTF">2026-03-27T13:00:38Z</dcterms:modified>
</cp:coreProperties>
</file>